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t>Lecture 3: The Attention Mechanism</a:t>
            </a:r>
          </a:p>
          <a:p>
            <a:pPr algn="ctr">
              <a:defRPr sz="2400">
                <a:solidFill>
                  <a:srgbClr val="74C0E3"/>
                </a:solidFill>
                <a:latin typeface="Calibri"/>
              </a:defRPr>
            </a:pPr>
            <a:r>
              <a:t>Queries, Keys, Values, and Multi-Head Math</a:t>
            </a:r>
          </a:p>
          <a:p>
            <a:pPr algn="ctr">
              <a:spcBef>
                <a:spcPts val="40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Based on 3Blue1Brown Lessons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Why Attention? Resolving Polysemy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A word's meaning is highly dependent on its context.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Consider the ambiguous word "mole":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"American shrew mole" (Animal context).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"One mole of carbon dioxide" (Chemistry context).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"Take a biopsy of the mole" (Medical context).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Goal of Attention: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To enable vectors of words like "mole" to query their surroundings and absorb coordinates from contextual keywords like "shrew", "biopsy", or "carbon".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Ambiguous Word</a:t>
            </a:r>
            <a:br/>
            <a:r>
              <a:t>"mole"</a:t>
            </a:r>
            <a:br/>
            <a:br/>
            <a:r>
              <a:t>Context Clues</a:t>
            </a:r>
            <a:br/>
            <a:r>
              <a:t>"shrew", "biopsy"</a:t>
            </a:r>
            <a:br/>
            <a:br/>
            <a:r>
              <a:t>Updated Embedding</a:t>
            </a:r>
            <a:br/>
            <a:r>
              <a:t>Refined coordinates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Information Transfer: Vector Shifts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How does information transfer between tokens?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We want the vector for the target word ("mole") to shift its coordinates.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To achieve this: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We calculate an attention connection between tokens.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We compute an update vector Δv from context tokens (e.g. "American", "shrew") and add it directly to "mole".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This mathematically embeds the contextual concept of "animal" into the representation of the word "mole".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American  ──┐</a:t>
            </a:r>
            <a:br/>
            <a:r>
              <a:t>             ├─→ [mole]</a:t>
            </a:r>
            <a:br/>
            <a:r>
              <a:t>shrew     ──┘</a:t>
            </a:r>
            <a:br/>
            <a:br/>
            <a:r>
              <a:t>Vectors add up to update target token coordinates.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Queries, Keys, and Values (Q, K, 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For each token representation x_i, we project it into three distinct roles: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Query (q_i): "What am I looking for in context?"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q_i = W_Q x_i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Key (k_j): "What information do I contain or offer?"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k_j = W_K x_j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Value (v_j): "What content do I transfer to matching tokens?"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v_j = W_V x_j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W_Q, W_K, and W_V are learned parameter matrices.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Query (Q): What I want</a:t>
            </a:r>
            <a:br/>
            <a:r>
              <a:t>Key (K): What I have</a:t>
            </a:r>
            <a:br/>
            <a:r>
              <a:t>Value (V): What I give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Step 1: Calculating Match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We measure the alignment of Query i and Key j using the dot product: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Raw Score_ij = q_i · k_j = q_i^T k_j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If what token i is searching for matches what token j offers, the score is high.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Scaling by Key Dimension: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We divide raw scores by the square root of the key dimension (√d_k):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Scaled Score_ij = (q_i^T k_j) / √d_k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Why? High-dimensional dot products have high variance. Without scaling, Softmax outputs values close to 0 or 1, freezing gradients (vanishing gradient problem).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Scaled Score:</a:t>
            </a:r>
            <a:br/>
            <a:br/>
            <a:r>
              <a:t>q_i^T k_j</a:t>
            </a:r>
            <a:br/>
            <a:r>
              <a:t>────────</a:t>
            </a:r>
            <a:br/>
            <a:r>
              <a:t>  √d_k</a:t>
            </a:r>
            <a:br/>
            <a:br/>
            <a:r>
              <a:t>Keeps gradients healthy during backprop.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Causal Masking: Restricting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In autoregressive text generation, tokens cannot see future words.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To enforce this restriction: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Before Softmax, we apply a mask to the score matrix.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All scores where j &gt; i (future tokens) are set to -∞.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Masked Score_ij = Raw Score_ij (for j ≤ i) or -∞ (for j &gt; i).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Since e^(-∞) = 0, future tokens receive exactly 0 attention weighting.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Ensures sequence generation remains causal and realistic.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Causal Mask Matrix:</a:t>
            </a:r>
            <a:br/>
            <a:br/>
            <a:r>
              <a:t>[ s11  -∞  -∞ ]</a:t>
            </a:r>
            <a:br/>
            <a:r>
              <a:t>[ s21  s22 -∞ ]</a:t>
            </a:r>
            <a:br/>
            <a:r>
              <a:t>[ s31  s32 s33]</a:t>
            </a:r>
            <a:br/>
            <a:br/>
            <a:r>
              <a:t>Future tokens are completely blanked 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Step 2: Normalization &amp; Weighted Sum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We run the masked, scaled scores through Softmax to get weights A_ij: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A_ij = e^(Score_ij) / Σ_k e^(Score_ik)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These weights act as percentage indicators (summing to 1.0 or 100%).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Calculating the Update Vector (u_i):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We compute a weighted sum of the Value vectors using the weights A_ij: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u_i = Σ_j A_ij v_j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u_i contains the synthesized contextual information retrieved from all permitted context tokens.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Attention Weights (A_ij)</a:t>
            </a:r>
            <a:br/>
            <a:r>
              <a:t>[0.1, 0.7, 0.2, 0.0]</a:t>
            </a:r>
            <a:br/>
            <a:br/>
            <a:r>
              <a:t>×</a:t>
            </a:r>
            <a:br/>
            <a:br/>
            <a:r>
              <a:t>Value Vectors (v_j)</a:t>
            </a:r>
            <a:br/>
            <a:br/>
            <a:r>
              <a:t>=</a:t>
            </a:r>
            <a:br/>
            <a:r>
              <a:t>Update Vector (u_i)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Step 3: Writing to the Residual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The update vector u_i must be mapped back to the residual stream space.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Output Matrix multiplication: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We multiply u_i by the Output Projection matrix W_O: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Δx_i = W_O u_i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This maps the retrieved value back into the original embedding dimension d.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Residual Stream update: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x_next = x_prev + Δx_i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The token vector is updated with context while preserving its original identity.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u_i (Update Vector)</a:t>
            </a:r>
            <a:br/>
            <a:r>
              <a:t>↓</a:t>
            </a:r>
            <a:br/>
            <a:r>
              <a:t>[ W_O Matrix ]</a:t>
            </a:r>
            <a:br/>
            <a:r>
              <a:t>↓</a:t>
            </a:r>
            <a:br/>
            <a:r>
              <a:t>Δx_i (Projected Update)</a:t>
            </a:r>
            <a:br/>
            <a:r>
              <a:t>↓</a:t>
            </a:r>
            <a:br/>
            <a:r>
              <a:t>Residual Stream (x + Δx)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Multi-Head Attention: Parallel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A single attention process (a head) can only track one query concept at a time.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To extract multiple contextual relationships in parallel: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We instantiate multiple attention heads (e.g. 96 heads in GPT-3).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Each head runs its own independent Q, K, and V operations: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Head 1: Tracks noun-adjective associations.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Head 2: Tracks pronouns and their corresponding subjects.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Head 3: Tracks verbs and their direct objects.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Outputs of all heads are concatenated and projected together via W_O.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Parallel Attention:</a:t>
            </a:r>
            <a:br/>
            <a:br/>
            <a:r>
              <a:t>[Head 1] → Nouns</a:t>
            </a:r>
            <a:br/>
            <a:r>
              <a:t>[Head 2] → Pronouns</a:t>
            </a:r>
            <a:br/>
            <a:r>
              <a:t>[Head 3] → Verbs</a:t>
            </a:r>
            <a:br/>
            <a:br/>
            <a:r>
              <a:t>Combined and written to stream via W_O.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Attention Block Parameter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Let's calculate the weights in a single attention layer of GPT-3: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Layer Dimensions: d = 12,288. Heads = 96. Head dimension = 128.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Q, K, V Projection Matrices: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For each head: W_Q, W_K, W_V are each 12,288 × 128 in size.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Weights per head = 3 × (12,288 × 128) ≈ 4.7 Million parameters.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For all 96 heads = 96 × 4.7M ≈ 452 Million parameters.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Output Projection Matrix (W_O):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W_O size is 12,288 × 12,288 ≈ 151 Million parameters.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Total per Attention block ≈ 603 Million parameters per layer!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Attention Block (per layer):</a:t>
            </a:r>
            <a:br/>
            <a:br/>
            <a:r>
              <a:t>Q, K, V Projections:</a:t>
            </a:r>
            <a:br/>
            <a:r>
              <a:t>~452M parameters</a:t>
            </a:r>
            <a:br/>
            <a:br/>
            <a:r>
              <a:t>Output Projection (W_O):</a:t>
            </a:r>
            <a:br/>
            <a:r>
              <a:t>~151M parameters</a:t>
            </a:r>
            <a:br/>
            <a:br/>
            <a:r>
              <a:t>Total: ~603M parameters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Summary: Lecture 3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Attention allows vectors to dynamically absorb surrounding context.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Queries, Keys, and Values represent what tokens seek, offer, and transfer.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Matching is measured via dot products, scaled to preserve gradients, and masked to prevent looking ahead.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Weighted value vectors are mapped back to the residual stream via W_O.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Multi-head attention tracks distinct textual relationships simultaneously.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Lecture 3 Completed!</a:t>
            </a:r>
            <a:br/>
            <a:br/>
            <a:r>
              <a:t>All three presentations are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