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t>Lecture 1: Large Language Models</a:t>
            </a:r>
            <a:br/>
            <a:r>
              <a:t>&amp; The Transformer Architecture</a:t>
            </a:r>
          </a:p>
          <a:p>
            <a:pPr algn="ctr">
              <a:defRPr sz="2400">
                <a:solidFill>
                  <a:srgbClr val="74C0E3"/>
                </a:solidFill>
                <a:latin typeface="Calibri"/>
              </a:defRPr>
            </a:pPr>
            <a:r>
              <a:t>A Visual and High-Level Introduction</a:t>
            </a:r>
          </a:p>
          <a:p>
            <a:pPr algn="ctr">
              <a:spcBef>
                <a:spcPts val="40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Based on 3Blue1Brown Lessons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What is a GPT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Generative Pre-trained Transformer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 neural network architecture optimized for processing sequence data like text, audio, and images.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Generative: Produces new text based on input instructions.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Pre-trained: Learns grammar, facts, and reasoning from reading massive web-scale datasets.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Transformer: The core model structure, introduced by Google researchers in 2017.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Generative: Produces text</a:t>
            </a:r>
            <a:br/>
            <a:r>
              <a:t>Pre-trained: Reads the web</a:t>
            </a:r>
            <a:br/>
            <a:r>
              <a:t>Transformer: The 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The Core Objective: Next-Token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LLMs generate content by solving a simple repeating puzzle: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"Given a prompt, predict the single most likely word/token that comes next."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Autoregressive Generation Cycle: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1. Take in prompt.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2. Calculate probability distribution over all possible words.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3. Sample one word (semi-randomly based on probability).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4. Append word to prompt, and repeat the cycle.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This step-by-step loop is why chat applications stream text word-by-word.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</a:t>
            </a:r>
            <a:br/>
            <a:r>
              <a:t>↓</a:t>
            </a:r>
            <a:br/>
            <a:r>
              <a:t>Predict next word</a:t>
            </a:r>
            <a:br/>
            <a:r>
              <a:t>↓</a:t>
            </a:r>
            <a:br/>
            <a:r>
              <a:t>Sample word</a:t>
            </a:r>
            <a:br/>
            <a:r>
              <a:t>↓</a:t>
            </a:r>
            <a:br/>
            <a:r>
              <a:t>Append &amp; Repeat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Tokenization: Slicing Text for Computers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Computers process numbers, not letters. Raw text must be broken down: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Tokens: Small chunks of characters (whole words, parts of words, punctuation).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Example sentence splits: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"To date, the cleverest thinker of all time was..."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→ [To] [ date] [,] [ the] [ cle] [ve] [rest] [ thinker] [ of] [ all] [ time] [ was]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Vocabulary Map: Each unique token is mapped to an ID integer.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GPT-3 uses a vocabulary of ~50,257 unique tokens.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Raw Text</a:t>
            </a:r>
            <a:br/>
            <a:r>
              <a:t>↓</a:t>
            </a:r>
            <a:br/>
            <a:r>
              <a:t>Tokenization</a:t>
            </a:r>
            <a:br/>
            <a:r>
              <a:t>↓</a:t>
            </a:r>
            <a:br/>
            <a:r>
              <a:t>Token IDs (Integers)</a:t>
            </a:r>
            <a:br/>
            <a:r>
              <a:t>↓</a:t>
            </a:r>
            <a:br/>
            <a:r>
              <a:t>Model 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The Core Steps inside the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1. Input Embeddings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Transforms token ID integers into coordinate vectors in a high-dimensional space.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2. Attention Block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Allows tokens to 'talk' to one another to absorb context and update vectors.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3. MLP (Feed-Forward) Block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Processes each token's vector individually and in parallel, asking attribute questions.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By alternating Attention and MLP blocks, the model extracts deep semantics.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Embeddings (Represent)</a:t>
            </a:r>
            <a:br/>
            <a:r>
              <a:t>↓</a:t>
            </a:r>
            <a:br/>
            <a:r>
              <a:t>Attention (Communicate)</a:t>
            </a:r>
            <a:br/>
            <a:r>
              <a:t>↓</a:t>
            </a:r>
            <a:br/>
            <a:r>
              <a:t>MLP (Analyze)</a:t>
            </a:r>
            <a:br/>
            <a:r>
              <a:t>↓</a:t>
            </a:r>
            <a:br/>
            <a:r>
              <a:t>Prediction (Output)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Input Embeddings: Geometric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Each token ID is mapped to a vector v in a massive space.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Dimensions represent abstract semantic concepts (learned automatically).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Geometric features: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Similar meanings group together in the coordinate space.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Directions represent semantic adjustments (e.g. past tense, pluralization, gender).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Embeddings lay the foundation of representation for the network.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High-Dimensional Vector Space</a:t>
            </a:r>
            <a:br/>
            <a:r>
              <a:t>(e.g., 12,288 dimensions for GPT-3)</a:t>
            </a:r>
            <a:br/>
            <a:br/>
            <a:r>
              <a:t>Directions = Concepts</a:t>
            </a:r>
            <a:br/>
            <a:r>
              <a:t>Clustering = Similarity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The Attention Block: Adding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Static embeddings do not account for context. Attention fixes this.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Example: The word "model"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"A machine learning model" vs "A famous fashion model"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The attention mechanism lets "model" communicate with neighbors: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It identifies which words are relevant to contextualizing the vector.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It updates coordinates accordingly so the vector represents its exact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Static Word Embedding</a:t>
            </a:r>
            <a:br/>
            <a:r>
              <a:t>+</a:t>
            </a:r>
            <a:br/>
            <a:r>
              <a:t>Contextual Communications</a:t>
            </a:r>
            <a:br/>
            <a:r>
              <a:t>=</a:t>
            </a:r>
            <a:br/>
            <a:r>
              <a:t>Context-Rich Embedding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The MLP Block: Parallel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Following communication, vectors are passed through a Multilayer Perceptron.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No Cross-Talk: Tokens do not communicate with each other in this block.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Parallel Execution: The same operations are performed on all vectors simultaneously.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Conceptual Operation: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Acts as a database lookup. It asks questions about each vector's attributes: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"Is this word part of a science fiction context?"</a:t>
            </a:r>
          </a:p>
          <a:p>
            <a:pPr lvl="2">
              <a:spcAft>
                <a:spcPts val="800"/>
              </a:spcAft>
              <a:defRPr sz="1600">
                <a:solidFill>
                  <a:srgbClr val="282828"/>
                </a:solidFill>
                <a:latin typeface="Calibri"/>
              </a:defRPr>
            </a:pPr>
            <a:r>
              <a:t>"Is this verb conjugated in the past tense?"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Updates the vector's position based on the answers.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MLP (Feed-Forward)</a:t>
            </a:r>
            <a:br/>
            <a:br/>
            <a:r>
              <a:t>Processes tokens independently</a:t>
            </a:r>
            <a:br/>
            <a:br/>
            <a:r>
              <a:t>Acts like a rich</a:t>
            </a:r>
            <a:br/>
            <a:r>
              <a:t>feature-updating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Deep Learning: Stacking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A single block of Attention + MLP is not enough for complex reasoning.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Deep Stacks: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GPT-2 Small has 12 repeating layers.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GPT-3 has 96 layers.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Information Progression: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Early Layers: Extract basic grammar, syntax, and sentence structure.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Middle Layers: Track coreferences and clause connections.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Late Layers: Formulate high-level semantic answers to predict the next word.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Stacked Layers</a:t>
            </a:r>
            <a:br/>
            <a:br/>
            <a:r>
              <a:t>[Layer 96] ← High Semantic</a:t>
            </a:r>
            <a:br/>
            <a:r>
              <a:t>...</a:t>
            </a:r>
            <a:br/>
            <a:r>
              <a:t>[Layer 2]  ← Context refinement</a:t>
            </a:r>
            <a:br/>
            <a:r>
              <a:t>[Layer 1]  ← Syntactic features</a:t>
            </a:r>
            <a:br/>
            <a:r>
              <a:t>[Embeds]   ← Raw Words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Deep Learning Premise: Weights vs.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When running an LLM, we separate the parameters from the active state: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The Weights (The Brains):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Tunable parameters configured during training.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Stored as static matrices (e.g. 175 billion weights for GPT-3).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The Data (The Flow):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Intermediate vectors representing current text.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constantly modified as they stream through the network layers.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Weights (Matrices):</a:t>
            </a:r>
            <a:br/>
            <a:r>
              <a:t>Learned and static.</a:t>
            </a:r>
            <a:br/>
            <a:br/>
            <a:r>
              <a:t>Data (Tensors/Vectors):</a:t>
            </a:r>
            <a:br/>
            <a:r>
              <a:t>Dynamic user input.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Georgia"/>
              </a:defRPr>
            </a:pPr>
            <a:r>
              <a:t>Summary: Lecture 1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GPT models predict the next token in a loop to write text.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Text is tokenized and projected as high-dimensional embedding vectors.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Attention allows vectors to query and adjust based on context.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MLP layers process each token vector independently to check attributes.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Calibri"/>
              </a:defRPr>
            </a:pPr>
            <a:r>
              <a:t>Deep stacking allows networks to build complex semantic representations.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011680"/>
            <a:ext cx="4114800" cy="3200400"/>
          </a:xfrm>
          <a:prstGeom prst="roundRect">
            <a:avLst/>
          </a:prstGeom>
          <a:solidFill>
            <a:srgbClr val="1C496E"/>
          </a:solidFill>
          <a:ln>
            <a:solidFill>
              <a:srgbClr val="1C4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Lecture 1 Completed!</a:t>
            </a:r>
            <a:br/>
            <a:br/>
            <a:r>
              <a:t>Up Next: Math of Embeddings &amp; the Residual Stream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