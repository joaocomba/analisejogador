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01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0"/>
              </a:spcAft>
              <a:defRPr sz="4400" b="1">
                <a:solidFill>
                  <a:srgbClr val="FFFFFF"/>
                </a:solidFill>
                <a:latin typeface="Georgia"/>
              </a:defRPr>
            </a:pPr>
            <a:r>
              <a:t>Lecture 2: Inside the Transformer</a:t>
            </a:r>
          </a:p>
          <a:p>
            <a:pPr algn="ctr">
              <a:defRPr sz="2400">
                <a:solidFill>
                  <a:srgbClr val="74C0E3"/>
                </a:solidFill>
                <a:latin typeface="Calibri"/>
              </a:defRPr>
            </a:pPr>
            <a:r>
              <a:t>Embeddings, The Residual Stream, and Softmax Math</a:t>
            </a:r>
          </a:p>
          <a:p>
            <a:pPr algn="ctr">
              <a:spcBef>
                <a:spcPts val="40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Based on 3Blue1Brown Lessons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0A192F"/>
                </a:solidFill>
                <a:latin typeface="Georgia"/>
              </a:defRPr>
            </a:pPr>
            <a:r>
              <a:t>Word Embeddings &amp; Dimensions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943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Tokens are mapped to vectors v in a high-dimensional vector space.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Model Dimensions (d):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GPT-2 Small: d = 768 dimensions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GPT-3: d = 12,288 dimensions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Coordinates encode linguistic features: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Directions correspond to concepts (e.g., gender, tense, capitalization).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A single vector represents the combination of all these attributes.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Represented as: v = [0.12, -0.45, 0.89, ... 12,288 values]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0" y="2011680"/>
            <a:ext cx="4114800" cy="3200400"/>
          </a:xfrm>
          <a:prstGeom prst="roundRect">
            <a:avLst/>
          </a:prstGeom>
          <a:solidFill>
            <a:srgbClr val="1C496E"/>
          </a:solidFill>
          <a:ln>
            <a:solidFill>
              <a:srgbClr val="1C4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GPT-3 Vector Space</a:t>
            </a:r>
            <a:br/>
            <a:br/>
            <a:r>
              <a:t>d = 12,288 dimensions</a:t>
            </a:r>
            <a:br/>
            <a:br/>
            <a:r>
              <a:t>Each position in the array is a coordinate along an axis of meaning.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0A192F"/>
                </a:solidFill>
                <a:latin typeface="Georgia"/>
              </a:defRPr>
            </a:pPr>
            <a:r>
              <a:t>Semantic Geometry &amp; Vector Math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943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Because dimensions represent concepts, we can do semantic math: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Semantic Equation Examples: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v_King - v_Man + v_Woman ≈ v_Queen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v_Italy - v_Rome + v_Paris ≈ v_France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Measuring Similarity: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We calculate Cosine Similarity between vectors to test semantic closeness:</a:t>
            </a:r>
          </a:p>
          <a:p>
            <a:pPr lvl="2">
              <a:spcAft>
                <a:spcPts val="800"/>
              </a:spcAft>
              <a:defRPr sz="1600">
                <a:solidFill>
                  <a:srgbClr val="282828"/>
                </a:solidFill>
                <a:latin typeface="Calibri"/>
              </a:defRPr>
            </a:pPr>
            <a:r>
              <a:t>Cosine Similarity = (a · b) / (||a|| ||b||)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Aligned vectors have a dot product near 1; perpendicular vectors have 0.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0" y="2011680"/>
            <a:ext cx="4114800" cy="3200400"/>
          </a:xfrm>
          <a:prstGeom prst="roundRect">
            <a:avLst/>
          </a:prstGeom>
          <a:solidFill>
            <a:srgbClr val="1C496E"/>
          </a:solidFill>
          <a:ln>
            <a:solidFill>
              <a:srgbClr val="1C4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Semantic Math:</a:t>
            </a:r>
            <a:br/>
            <a:br/>
            <a:r>
              <a:t>King - Man + Woman</a:t>
            </a:r>
            <a:br/>
            <a:r>
              <a:t>= Queen</a:t>
            </a:r>
            <a:br/>
            <a:br/>
            <a:r>
              <a:t>Rome - Italy + France</a:t>
            </a:r>
            <a:br/>
            <a:r>
              <a:t>= Paris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0A192F"/>
                </a:solidFill>
                <a:latin typeface="Georgia"/>
              </a:defRPr>
            </a:pPr>
            <a:r>
              <a:t>Positional Encoding: Injecting Order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943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Transformers process tokens in parallel, making them order-blind (bag of words).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To represent sequence structure: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We add a position vector p_j to the word embedding e_j at index j:</a:t>
            </a:r>
          </a:p>
          <a:p>
            <a:pPr lvl="2">
              <a:spcAft>
                <a:spcPts val="800"/>
              </a:spcAft>
              <a:defRPr sz="1600">
                <a:solidFill>
                  <a:srgbClr val="282828"/>
                </a:solidFill>
                <a:latin typeface="Calibri"/>
              </a:defRPr>
            </a:pPr>
            <a:r>
              <a:t>x_j = e_j + p_j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The positional vector encodes the word's position in the prompt.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Sinusoidal Encodings: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Values are calculated using sine and cosine waves of varying frequencies.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Enables the model to determine relative distances between words easily.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0" y="2011680"/>
            <a:ext cx="4114800" cy="3200400"/>
          </a:xfrm>
          <a:prstGeom prst="roundRect">
            <a:avLst/>
          </a:prstGeom>
          <a:solidFill>
            <a:srgbClr val="1C496E"/>
          </a:solidFill>
          <a:ln>
            <a:solidFill>
              <a:srgbClr val="1C4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e_j (Semantic Vector)</a:t>
            </a:r>
            <a:br/>
            <a:r>
              <a:t>+</a:t>
            </a:r>
            <a:br/>
            <a:r>
              <a:t>p_j (Position Vector)</a:t>
            </a:r>
            <a:br/>
            <a:r>
              <a:t>=</a:t>
            </a:r>
            <a:br/>
            <a:r>
              <a:t>x_j (Input Vector)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0A192F"/>
                </a:solidFill>
                <a:latin typeface="Georgia"/>
              </a:defRPr>
            </a:pPr>
            <a:r>
              <a:t>The Residual Stream: The Central Highway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943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How does information propagate through dozens of stacked layers?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The Residual Stream is the central channel where vectors travel.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Key Architecture Pattern: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Instead of rewriting the token vector completely, blocks only add shifts (Δv):</a:t>
            </a:r>
          </a:p>
          <a:p>
            <a:pPr lvl="2">
              <a:spcAft>
                <a:spcPts val="800"/>
              </a:spcAft>
              <a:defRPr sz="1600">
                <a:solidFill>
                  <a:srgbClr val="282828"/>
                </a:solidFill>
                <a:latin typeface="Calibri"/>
              </a:defRPr>
            </a:pPr>
            <a:r>
              <a:t>v_out = v_in + Δv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Benefits: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1. Identity Highway: Information can travel untouched across the network.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2. Stable Backpropagation: Prevents vanishing gradients during training.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3. Incremental updates: Layers act as modifiers rather than rebuilders.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0" y="2011680"/>
            <a:ext cx="4114800" cy="3200400"/>
          </a:xfrm>
          <a:prstGeom prst="roundRect">
            <a:avLst/>
          </a:prstGeom>
          <a:solidFill>
            <a:srgbClr val="1C496E"/>
          </a:solidFill>
          <a:ln>
            <a:solidFill>
              <a:srgbClr val="1C4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Residual Stream</a:t>
            </a:r>
            <a:br/>
            <a:br/>
            <a:r>
              <a:t>=== [Identity Path] ===</a:t>
            </a:r>
            <a:br/>
            <a:r>
              <a:t>  ▲           │</a:t>
            </a:r>
            <a:br/>
            <a:r>
              <a:t>  │ (Add Δv)  ▼ (Read)</a:t>
            </a:r>
            <a:br/>
            <a:r>
              <a:t>[ Attention / MLP 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0A192F"/>
                </a:solidFill>
                <a:latin typeface="Georgia"/>
              </a:defRPr>
            </a:pPr>
            <a:r>
              <a:t>Layer Stacking: A Complete Block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943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Let's look at the mathematical loop of a single transformer layer: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First Step: Multi-Head Attention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The attention block reads from the stream, computes updates, and writes:</a:t>
            </a:r>
          </a:p>
          <a:p>
            <a:pPr lvl="2">
              <a:spcAft>
                <a:spcPts val="800"/>
              </a:spcAft>
              <a:defRPr sz="1600">
                <a:solidFill>
                  <a:srgbClr val="282828"/>
                </a:solidFill>
                <a:latin typeface="Calibri"/>
              </a:defRPr>
            </a:pPr>
            <a:r>
              <a:t>v' = v + Attention(v)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Second Step: Multilayer Perceptron (MLP)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The MLP reads the updated vector, computes adjustments, and writes:</a:t>
            </a:r>
          </a:p>
          <a:p>
            <a:pPr lvl="2">
              <a:spcAft>
                <a:spcPts val="800"/>
              </a:spcAft>
              <a:defRPr sz="1600">
                <a:solidFill>
                  <a:srgbClr val="282828"/>
                </a:solidFill>
                <a:latin typeface="Calibri"/>
              </a:defRPr>
            </a:pPr>
            <a:r>
              <a:t>v'' = v' + MLP(v')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This process repeats. The residual stream is constantly read and updated.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0" y="2011680"/>
            <a:ext cx="4114800" cy="3200400"/>
          </a:xfrm>
          <a:prstGeom prst="roundRect">
            <a:avLst/>
          </a:prstGeom>
          <a:solidFill>
            <a:srgbClr val="1C496E"/>
          </a:solidFill>
          <a:ln>
            <a:solidFill>
              <a:srgbClr val="1C4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v</a:t>
            </a:r>
            <a:br/>
            <a:r>
              <a:t>↓</a:t>
            </a:r>
            <a:br/>
            <a:r>
              <a:t>[Attention] → v + Attn(v)</a:t>
            </a:r>
            <a:br/>
            <a:r>
              <a:t>↓</a:t>
            </a:r>
            <a:br/>
            <a:r>
              <a:t>[MLP] → v' + MLP(v')</a:t>
            </a:r>
            <a:br/>
            <a:r>
              <a:t>↓</a:t>
            </a:r>
            <a:br/>
            <a:r>
              <a:t>v'' (Next Layer)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0A192F"/>
                </a:solidFill>
                <a:latin typeface="Georgia"/>
              </a:defRPr>
            </a:pPr>
            <a:r>
              <a:t>Softmax Function: Output Probabilities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943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At the very end of the network, we must output word predictions.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The final token vector is multiplied by the unembedding matrix to get raw scores (logits) x for each word in the vocabulary.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Softmax converts logits x into valid probabilities P(i):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P(i) = e^(x_i) / Σ_j e^(x_j)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Key Math features: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Exponentiation: Makes all negative raw scores positive.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Summation: Divides each by the sum of all, so probabilities total 1.0 (100%).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Amplification: The largest score is dramatically boosted, while minor differences shrink.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0" y="2011680"/>
            <a:ext cx="4114800" cy="3200400"/>
          </a:xfrm>
          <a:prstGeom prst="roundRect">
            <a:avLst/>
          </a:prstGeom>
          <a:solidFill>
            <a:srgbClr val="1C496E"/>
          </a:solidFill>
          <a:ln>
            <a:solidFill>
              <a:srgbClr val="1C4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Logits (Raw Scores)</a:t>
            </a:r>
            <a:br/>
            <a:r>
              <a:t>[-2.4, 1.2, 5.8, ...]</a:t>
            </a:r>
            <a:br/>
            <a:br/>
            <a:r>
              <a:t>↓ [Softmax]</a:t>
            </a:r>
            <a:br/>
            <a:br/>
            <a:r>
              <a:t>Probabilities</a:t>
            </a:r>
            <a:br/>
            <a:r>
              <a:t>[0.01, 0.04, 0.95, ...]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0A192F"/>
                </a:solidFill>
                <a:latin typeface="Georgia"/>
              </a:defRPr>
            </a:pPr>
            <a:r>
              <a:t>Softmax Temperature: Adjusting randomness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943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We can scale the logits by a temperature parameter T before Softmax: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P(i) = e^(x_i / T) / Σ_j e^(x_j / T)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Low Temperature (T &lt; 1.0, e.g., T = 0.2):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Accentuates the differences. The highest score gets close to 100% probability.</a:t>
            </a:r>
          </a:p>
          <a:p>
            <a:pPr lvl="2">
              <a:spcAft>
                <a:spcPts val="800"/>
              </a:spcAft>
              <a:defRPr sz="1600">
                <a:solidFill>
                  <a:srgbClr val="282828"/>
                </a:solidFill>
                <a:latin typeface="Calibri"/>
              </a:defRPr>
            </a:pPr>
            <a:r>
              <a:t>Result: High confidence, repetitive, factual, and predictable text.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High Temperature (T &gt; 1.0, e.g., T = 1.5):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Flattens the probability peaks. Lower scores get higher chances.</a:t>
            </a:r>
          </a:p>
          <a:p>
            <a:pPr lvl="2">
              <a:spcAft>
                <a:spcPts val="800"/>
              </a:spcAft>
              <a:defRPr sz="1600">
                <a:solidFill>
                  <a:srgbClr val="282828"/>
                </a:solidFill>
                <a:latin typeface="Calibri"/>
              </a:defRPr>
            </a:pPr>
            <a:r>
              <a:t>Result: Diverse, random, creative, but prone to grammatical mistakes/hallucinations.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0" y="2011680"/>
            <a:ext cx="4114800" cy="3200400"/>
          </a:xfrm>
          <a:prstGeom prst="roundRect">
            <a:avLst/>
          </a:prstGeom>
          <a:solidFill>
            <a:srgbClr val="1C496E"/>
          </a:solidFill>
          <a:ln>
            <a:solidFill>
              <a:srgbClr val="1C4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Logits / T</a:t>
            </a:r>
            <a:br/>
            <a:br/>
            <a:r>
              <a:t>Low T (T=0.2) → Greedy/Predictable</a:t>
            </a:r>
            <a:br/>
            <a:br/>
            <a:r>
              <a:t>High T (T=1.5) → Random/Creative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0A192F"/>
                </a:solidFill>
                <a:latin typeface="Georgia"/>
              </a:defRPr>
            </a:pPr>
            <a:r>
              <a:t>Parameter Breakdown (Where do 175B weights go?)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943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GPT-3 has 175 Billion parameters across 96 layers. Where are they?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Embedding Matrix: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50,257 tokens × 12,288 dimensions ≈ 617 Million parameters.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Attention Layers (per layer):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Queries, Keys, Values (Q, K, V) projection matrices + Output Matrix.</a:t>
            </a:r>
          </a:p>
          <a:p>
            <a:pPr lvl="2">
              <a:spcAft>
                <a:spcPts val="800"/>
              </a:spcAft>
              <a:defRPr sz="1600">
                <a:solidFill>
                  <a:srgbClr val="282828"/>
                </a:solidFill>
                <a:latin typeface="Calibri"/>
              </a:defRPr>
            </a:pPr>
            <a:r>
              <a:t>≈ 600 Million parameters per layer × 96 layers ≈ 58 Billion parameters.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MLP Layers (per layer):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Two large projection matrices mapping vectors to 4× size (49,152) and back.</a:t>
            </a:r>
          </a:p>
          <a:p>
            <a:pPr lvl="2">
              <a:spcAft>
                <a:spcPts val="800"/>
              </a:spcAft>
              <a:defRPr sz="1600">
                <a:solidFill>
                  <a:srgbClr val="282828"/>
                </a:solidFill>
                <a:latin typeface="Calibri"/>
              </a:defRPr>
            </a:pPr>
            <a:r>
              <a:t>≈ 1.2 Billion parameters per layer × 96 layers ≈ 115 Billion parameters.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0" y="2011680"/>
            <a:ext cx="4114800" cy="3200400"/>
          </a:xfrm>
          <a:prstGeom prst="roundRect">
            <a:avLst/>
          </a:prstGeom>
          <a:solidFill>
            <a:srgbClr val="1C496E"/>
          </a:solidFill>
          <a:ln>
            <a:solidFill>
              <a:srgbClr val="1C4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Total Parameters:</a:t>
            </a:r>
            <a:br/>
            <a:br/>
            <a:r>
              <a:t>MLP Blocks: ~65%</a:t>
            </a:r>
            <a:br/>
            <a:r>
              <a:t>Attention Blocks: ~33%</a:t>
            </a:r>
            <a:br/>
            <a:r>
              <a:t>Embeddings: ~2%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0A192F"/>
                </a:solidFill>
                <a:latin typeface="Georgia"/>
              </a:defRPr>
            </a:pPr>
            <a:r>
              <a:t>Summary: Lecture 2 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943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Tokens are mapped to coordinate vectors in a high-dimensional space.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Semantic calculations (e.g. analogy math) are possible in this space.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Positional encoding ensures sequence order is tracked.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The **Residual Stream** enables stable depth by updating vectors via addition (v + Δv).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**Softmax** converts logits to probabilities, and **Temperature** scales output entropy.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0" y="2011680"/>
            <a:ext cx="4114800" cy="3200400"/>
          </a:xfrm>
          <a:prstGeom prst="roundRect">
            <a:avLst/>
          </a:prstGeom>
          <a:solidFill>
            <a:srgbClr val="1C496E"/>
          </a:solidFill>
          <a:ln>
            <a:solidFill>
              <a:srgbClr val="1C4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Lecture 2 Completed!</a:t>
            </a:r>
            <a:br/>
            <a:br/>
            <a:r>
              <a:t>Up Next: Attention Details (Q, K, V math)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